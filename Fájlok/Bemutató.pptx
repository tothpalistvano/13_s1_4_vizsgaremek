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sldIdLst>
    <p:sldId id="256" r:id="rId2"/>
    <p:sldId id="257" r:id="rId3"/>
    <p:sldId id="262" r:id="rId4"/>
    <p:sldId id="263" r:id="rId5"/>
    <p:sldId id="258" r:id="rId6"/>
    <p:sldId id="261" r:id="rId7"/>
    <p:sldId id="260" r:id="rId8"/>
    <p:sldId id="264" r:id="rId9"/>
    <p:sldId id="265" r:id="rId10"/>
    <p:sldId id="259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0E0"/>
    <a:srgbClr val="2596BE"/>
    <a:srgbClr val="000000"/>
    <a:srgbClr val="FBFBFB"/>
    <a:srgbClr val="582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Közepesen sötét stílus 2 – 1. jelölőszín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Stílus és rács nélkül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97" d="100"/>
          <a:sy n="97" d="100"/>
        </p:scale>
        <p:origin x="96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ímdia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BD2B674F-1946-412B-A744-B9E1115EC83C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  <p:extLst>
      <p:ext uri="{BB962C8B-B14F-4D97-AF65-F5344CB8AC3E}">
        <p14:creationId xmlns:p14="http://schemas.microsoft.com/office/powerpoint/2010/main" val="32748149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72589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zakaszfejléc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D2B674F-1946-412B-A744-B9E1115EC83C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139302153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555821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37287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90180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81779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D2B674F-1946-412B-A744-B9E1115EC83C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437239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D2B674F-1946-412B-A744-B9E1115EC83C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9656234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82463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93029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BD2B674F-1946-412B-A744-B9E1115EC83C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0680724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microsoft.com/office/2007/relationships/hdphoto" Target="../media/hdphoto1.wdp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ogo.wine/logo/Laravel" TargetMode="External"/><Relationship Id="rId2" Type="http://schemas.openxmlformats.org/officeDocument/2006/relationships/hyperlink" Target="https://www.svgrepo.com/svg/452130/vue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D495940-38EC-4F7A-A108-52076AEFD3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15385" y="1305580"/>
            <a:ext cx="8361229" cy="1632353"/>
          </a:xfrm>
        </p:spPr>
        <p:txBody>
          <a:bodyPr>
            <a:normAutofit/>
          </a:bodyPr>
          <a:lstStyle/>
          <a:p>
            <a:r>
              <a:rPr lang="hu-HU" sz="5400" dirty="0">
                <a:solidFill>
                  <a:srgbClr val="582C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Kreatív hobbi- és barkács webáruház</a:t>
            </a:r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482DF5E9-CEA3-42E0-A7AD-34188B148653}"/>
              </a:ext>
            </a:extLst>
          </p:cNvPr>
          <p:cNvSpPr txBox="1"/>
          <p:nvPr/>
        </p:nvSpPr>
        <p:spPr>
          <a:xfrm>
            <a:off x="1248147" y="4037418"/>
            <a:ext cx="256771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Készítették: </a:t>
            </a:r>
          </a:p>
          <a:p>
            <a:r>
              <a:rPr lang="hu-H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Kovács Edit</a:t>
            </a:r>
          </a:p>
          <a:p>
            <a:r>
              <a:rPr lang="hu-H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Tóthpál István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7AF31665-F8D6-4A71-B7CD-8B3838903AC8}"/>
              </a:ext>
            </a:extLst>
          </p:cNvPr>
          <p:cNvPicPr/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28102" y="4140200"/>
            <a:ext cx="1697023" cy="1412220"/>
          </a:xfrm>
          <a:prstGeom prst="rect">
            <a:avLst/>
          </a:prstGeom>
        </p:spPr>
      </p:pic>
      <p:sp>
        <p:nvSpPr>
          <p:cNvPr id="6" name="Szövegdoboz 5">
            <a:extLst>
              <a:ext uri="{FF2B5EF4-FFF2-40B4-BE49-F238E27FC236}">
                <a16:creationId xmlns:a16="http://schemas.microsoft.com/office/drawing/2014/main" id="{19E1F8BE-8BEF-4EF9-8C23-31F4824FDC3B}"/>
              </a:ext>
            </a:extLst>
          </p:cNvPr>
          <p:cNvSpPr txBox="1"/>
          <p:nvPr/>
        </p:nvSpPr>
        <p:spPr>
          <a:xfrm>
            <a:off x="4318958" y="3167390"/>
            <a:ext cx="35540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Vizsgaremek bemutató</a:t>
            </a:r>
          </a:p>
        </p:txBody>
      </p:sp>
    </p:spTree>
    <p:extLst>
      <p:ext uri="{BB962C8B-B14F-4D97-AF65-F5344CB8AC3E}">
        <p14:creationId xmlns:p14="http://schemas.microsoft.com/office/powerpoint/2010/main" val="42045273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projekt bemutatása</a:t>
            </a:r>
          </a:p>
        </p:txBody>
      </p:sp>
      <p:sp>
        <p:nvSpPr>
          <p:cNvPr id="4" name="Tartalom helye 2">
            <a:extLst>
              <a:ext uri="{FF2B5EF4-FFF2-40B4-BE49-F238E27FC236}">
                <a16:creationId xmlns:a16="http://schemas.microsoft.com/office/drawing/2014/main" id="{001DDAED-5686-4A0D-A235-F749239A7F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909233"/>
            <a:ext cx="7077808" cy="3581400"/>
          </a:xfrm>
        </p:spPr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Webáruház egy kreatív hobbibolt számára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Célok: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bolt elérésének növelése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Ötletek, tapasztalatok és segédletek elérése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Interaktív felület létrehozása horgoláshoz és kötéshez</a:t>
            </a:r>
          </a:p>
        </p:txBody>
      </p:sp>
      <p:pic>
        <p:nvPicPr>
          <p:cNvPr id="8" name="Kép 7">
            <a:extLst>
              <a:ext uri="{FF2B5EF4-FFF2-40B4-BE49-F238E27FC236}">
                <a16:creationId xmlns:a16="http://schemas.microsoft.com/office/drawing/2014/main" id="{6A36C547-47DA-446B-B8C6-9CED0751F7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9587" y="5065258"/>
            <a:ext cx="2663213" cy="850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142189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42" presetClass="entr" presetSubtype="0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200"/>
                            </p:stCondLst>
                            <p:childTnLst>
                              <p:par>
                                <p:cTn id="15" presetID="42" presetClass="entr" presetSubtype="0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900"/>
                            </p:stCondLst>
                            <p:childTnLst>
                              <p:par>
                                <p:cTn id="21" presetID="42" presetClass="entr" presetSubtype="0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600"/>
                            </p:stCondLst>
                            <p:childTnLst>
                              <p:par>
                                <p:cTn id="27" presetID="42" presetClass="entr" presetSubtype="0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300"/>
                            </p:stCondLst>
                            <p:childTnLst>
                              <p:par>
                                <p:cTn id="33" presetID="42" presetClass="entr" presetSubtype="0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4000"/>
                            </p:stCondLst>
                            <p:childTnLst>
                              <p:par>
                                <p:cTn id="39" presetID="2" presetClass="entr" presetSubtype="2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956733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Az oldalunk funkciói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871133"/>
            <a:ext cx="9127067" cy="3581400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Belépés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Regisztráció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Termékek böngészése, rendelése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Blogposztok böngészése, újak feltöltése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Egyedi minták készítése kép alapján horgoláshoz, kötéshez és hímzéshez, és az ehhez szükséges eszközök megrendelése az oldalunkról</a:t>
            </a:r>
          </a:p>
          <a:p>
            <a:pPr>
              <a:buFont typeface="Wingdings" panose="05000000000000000000" pitchFamily="2" charset="2"/>
              <a:buChar char="Ø"/>
            </a:pPr>
            <a:endParaRPr lang="hu-H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787899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5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00"/>
                            </p:stCondLst>
                            <p:childTnLst>
                              <p:par>
                                <p:cTn id="2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3500"/>
                            </p:stCondLst>
                            <p:childTnLst>
                              <p:par>
                                <p:cTn id="2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500"/>
                            </p:stCondLst>
                            <p:childTnLst>
                              <p:par>
                                <p:cTn id="3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931333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Program részei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171700"/>
            <a:ext cx="3395133" cy="3581400"/>
          </a:xfrm>
        </p:spPr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Backend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Laravel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Frontend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Vue.js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hu-HU" i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PrimeVue</a:t>
            </a:r>
            <a:endParaRPr lang="hu-HU" i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Adatbázis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hu-HU" i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Mysql</a:t>
            </a:r>
            <a:endParaRPr lang="hu-HU" i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951910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2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700"/>
                            </p:stCondLst>
                            <p:childTnLst>
                              <p:par>
                                <p:cTn id="21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400"/>
                            </p:stCondLst>
                            <p:childTnLst>
                              <p:par>
                                <p:cTn id="2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900"/>
                            </p:stCondLst>
                            <p:childTnLst>
                              <p:par>
                                <p:cTn id="3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3400"/>
                            </p:stCondLst>
                            <p:childTnLst>
                              <p:par>
                                <p:cTn id="39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4100"/>
                            </p:stCondLst>
                            <p:childTnLst>
                              <p:par>
                                <p:cTn id="4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745067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Munkamegosztás</a:t>
            </a:r>
          </a:p>
        </p:txBody>
      </p:sp>
      <p:graphicFrame>
        <p:nvGraphicFramePr>
          <p:cNvPr id="4" name="Táblázat 4">
            <a:extLst>
              <a:ext uri="{FF2B5EF4-FFF2-40B4-BE49-F238E27FC236}">
                <a16:creationId xmlns:a16="http://schemas.microsoft.com/office/drawing/2014/main" id="{F3ADCF9F-C003-4389-A81F-096209D55C5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19385836"/>
              </p:ext>
            </p:extLst>
          </p:nvPr>
        </p:nvGraphicFramePr>
        <p:xfrm>
          <a:off x="1591733" y="2155614"/>
          <a:ext cx="9601200" cy="31089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377267">
                  <a:extLst>
                    <a:ext uri="{9D8B030D-6E8A-4147-A177-3AD203B41FA5}">
                      <a16:colId xmlns:a16="http://schemas.microsoft.com/office/drawing/2014/main" val="1522077895"/>
                    </a:ext>
                  </a:extLst>
                </a:gridCol>
                <a:gridCol w="5223933">
                  <a:extLst>
                    <a:ext uri="{9D8B030D-6E8A-4147-A177-3AD203B41FA5}">
                      <a16:colId xmlns:a16="http://schemas.microsoft.com/office/drawing/2014/main" val="90261946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hu-HU" u="sng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Kovács Edit:</a:t>
                      </a:r>
                    </a:p>
                    <a:p>
                      <a:endParaRPr lang="hu-HU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lang="hu-HU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Frontend és backend: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Blog, poszt feltöltése, kommentelés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Mintakészítő oldal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Profil oldal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lang="hu-HU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Backend tesztelés Postmannel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endParaRPr lang="hu-HU" i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lang="hu-HU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Adatbázis megtervezése, létrehozása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endParaRPr lang="hu-HU" i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hu-HU" u="sng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Tóthpál István:</a:t>
                      </a:r>
                    </a:p>
                    <a:p>
                      <a:endParaRPr lang="hu-HU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lang="hu-HU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Frontend és backend: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Belépés és regisztráció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Termékek és áruház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Termékek rendelése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Adminisztrációs felület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lang="hu-HU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Frontend tesztelés </a:t>
                      </a:r>
                      <a:r>
                        <a:rPr lang="hu-HU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Robotframeworkkel</a:t>
                      </a:r>
                      <a:endParaRPr lang="hu-HU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endParaRPr lang="hu-HU" i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lang="hu-HU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Adatbázis feltöltése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endParaRPr lang="hu-HU" i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48925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214645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42" presetClass="entr" presetSubtype="0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2453054" cy="896815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Backend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286000"/>
            <a:ext cx="5125915" cy="3581400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Laravel 12</a:t>
            </a:r>
          </a:p>
          <a:p>
            <a:r>
              <a:rPr lang="hu-HU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Sanctum</a:t>
            </a:r>
            <a:endParaRPr lang="hu-H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Kontrollerek</a:t>
            </a: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Migrációk, táblák</a:t>
            </a: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Backend-frontend összeköttetés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38F5AFF7-93D3-4D08-A7F2-FB4DB21F308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1720"/>
          <a:stretch/>
        </p:blipFill>
        <p:spPr>
          <a:xfrm>
            <a:off x="8905956" y="252182"/>
            <a:ext cx="2930445" cy="3305636"/>
          </a:xfrm>
          <a:prstGeom prst="rect">
            <a:avLst/>
          </a:prstGeom>
          <a:ln>
            <a:noFill/>
          </a:ln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09414831-5E14-4101-BF7E-B9A1C967507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34417"/>
          <a:stretch/>
        </p:blipFill>
        <p:spPr>
          <a:xfrm>
            <a:off x="6857795" y="3566955"/>
            <a:ext cx="2048161" cy="2730228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4CCB59EF-C964-4CBA-99AC-E4B332D8F9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02560" y="4932069"/>
            <a:ext cx="1435679" cy="1494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7525195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2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900"/>
                            </p:stCondLst>
                            <p:childTnLst>
                              <p:par>
                                <p:cTn id="21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600"/>
                            </p:stCondLst>
                            <p:childTnLst>
                              <p:par>
                                <p:cTn id="27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300"/>
                            </p:stCondLst>
                            <p:childTnLst>
                              <p:par>
                                <p:cTn id="33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4000"/>
                            </p:stCondLst>
                            <p:childTnLst>
                              <p:par>
                                <p:cTn id="39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20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20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Frontend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286000"/>
            <a:ext cx="5350933" cy="2286319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Vue.js 3</a:t>
            </a:r>
          </a:p>
          <a:p>
            <a:r>
              <a:rPr lang="hu-HU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Pinia</a:t>
            </a: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hu-HU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Axios</a:t>
            </a:r>
            <a:endParaRPr lang="hu-H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Bővítmények – </a:t>
            </a:r>
            <a:r>
              <a:rPr lang="hu-HU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PrimeVue</a:t>
            </a: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hu-HU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FontAwesome</a:t>
            </a:r>
            <a:endParaRPr lang="hu-H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6DCEB919-1031-473A-B48E-4F0E5E0BB2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7148" y="397772"/>
            <a:ext cx="2486372" cy="2286319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F9846C76-EA7B-41BA-A6FE-26DD3E5DD4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6330" y="3037572"/>
            <a:ext cx="2534004" cy="3134162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CCF3B571-DFA6-4E7E-998A-59BCADD48202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33667" b="65000" l="5667" r="93500">
                        <a14:foregroundMark x1="8500" y1="37000" x2="8500" y2="37000"/>
                        <a14:foregroundMark x1="5833" y1="35000" x2="5833" y2="35000"/>
                        <a14:foregroundMark x1="48667" y1="44333" x2="48667" y2="44333"/>
                        <a14:foregroundMark x1="60000" y1="49000" x2="60000" y2="49000"/>
                        <a14:foregroundMark x1="77167" y1="50333" x2="77167" y2="50333"/>
                        <a14:foregroundMark x1="80667" y1="56167" x2="80667" y2="56167"/>
                        <a14:foregroundMark x1="84667" y1="40500" x2="84667" y2="40500"/>
                        <a14:foregroundMark x1="84667" y1="50333" x2="84667" y2="50333"/>
                        <a14:foregroundMark x1="89667" y1="47000" x2="89667" y2="47000"/>
                        <a14:foregroundMark x1="93500" y1="46500" x2="93500" y2="46500"/>
                        <a14:foregroundMark x1="23500" y1="65000" x2="23500" y2="65000"/>
                      </a14:backgroundRemoval>
                    </a14:imgEffect>
                  </a14:imgLayer>
                </a14:imgProps>
              </a:ext>
            </a:extLst>
          </a:blip>
          <a:srcRect t="30000" b="31185"/>
          <a:stretch/>
        </p:blipFill>
        <p:spPr>
          <a:xfrm>
            <a:off x="6096000" y="5475034"/>
            <a:ext cx="1794933" cy="696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873143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Adatbázis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048607"/>
            <a:ext cx="9601200" cy="3581400"/>
          </a:xfrm>
        </p:spPr>
        <p:txBody>
          <a:bodyPr/>
          <a:lstStyle/>
          <a:p>
            <a:pPr>
              <a:buFont typeface="Wingdings" panose="05000000000000000000" pitchFamily="2" charset="2"/>
              <a:buChar char="§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18 tábla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Mintaadatokkal való feltöltés </a:t>
            </a:r>
            <a:r>
              <a:rPr lang="hu-HU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seeder</a:t>
            </a: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és </a:t>
            </a:r>
            <a:r>
              <a:rPr lang="hu-HU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factory</a:t>
            </a: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segítségével:</a:t>
            </a:r>
          </a:p>
          <a:p>
            <a:pPr lvl="1"/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Termékek</a:t>
            </a:r>
          </a:p>
          <a:p>
            <a:pPr lvl="1"/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Címkék, kategóriák</a:t>
            </a:r>
          </a:p>
          <a:p>
            <a:pPr lvl="1"/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Kommentek</a:t>
            </a:r>
          </a:p>
          <a:p>
            <a:pPr lvl="1"/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Városok</a:t>
            </a:r>
          </a:p>
          <a:p>
            <a:pPr marL="530352" lvl="1" indent="0">
              <a:buNone/>
            </a:pPr>
            <a:endParaRPr lang="hu-HU" i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A3BBF849-1D16-4AEC-B1BA-DAA24D87052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194" b="47548"/>
          <a:stretch/>
        </p:blipFill>
        <p:spPr>
          <a:xfrm>
            <a:off x="8593667" y="685801"/>
            <a:ext cx="2776733" cy="2743200"/>
          </a:xfrm>
          <a:prstGeom prst="rect">
            <a:avLst/>
          </a:prstGeom>
        </p:spPr>
      </p:pic>
      <p:pic>
        <p:nvPicPr>
          <p:cNvPr id="6" name="Tartalom helye 4">
            <a:extLst>
              <a:ext uri="{FF2B5EF4-FFF2-40B4-BE49-F238E27FC236}">
                <a16:creationId xmlns:a16="http://schemas.microsoft.com/office/drawing/2014/main" id="{1BE3CA50-2222-4845-A8AB-0CE8C5056A0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629" t="17395" r="36973" b="8660"/>
          <a:stretch/>
        </p:blipFill>
        <p:spPr>
          <a:xfrm>
            <a:off x="6530799" y="3429000"/>
            <a:ext cx="2062868" cy="3156437"/>
          </a:xfrm>
          <a:prstGeom prst="rect">
            <a:avLst/>
          </a:prstGeom>
          <a:noFill/>
          <a:effectLst>
            <a:outerShdw blurRad="279400" dir="5400000" algn="ctr" rotWithShape="0">
              <a:schemeClr val="tx1">
                <a:lumMod val="50000"/>
                <a:lumOff val="50000"/>
                <a:alpha val="26000"/>
              </a:scheme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77293459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400"/>
                            </p:stCondLst>
                            <p:childTnLst>
                              <p:par>
                                <p:cTn id="9" presetID="2" presetClass="entr" presetSubtype="4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100"/>
                            </p:stCondLst>
                            <p:childTnLst>
                              <p:par>
                                <p:cTn id="14" presetID="2" presetClass="entr" presetSubtype="4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800"/>
                            </p:stCondLst>
                            <p:childTnLst>
                              <p:par>
                                <p:cTn id="1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3300"/>
                            </p:stCondLst>
                            <p:childTnLst>
                              <p:par>
                                <p:cTn id="2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800"/>
                            </p:stCondLst>
                            <p:childTnLst>
                              <p:par>
                                <p:cTn id="2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4300"/>
                            </p:stCondLst>
                            <p:childTnLst>
                              <p:par>
                                <p:cTn id="3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4800"/>
                            </p:stCondLst>
                            <p:childTnLst>
                              <p:par>
                                <p:cTn id="39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861646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Reszponzívitás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1" y="2036620"/>
            <a:ext cx="5232400" cy="3581400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Igényes kinézet az összes funkció elérésével az alábbiakon is:</a:t>
            </a:r>
          </a:p>
          <a:p>
            <a:pPr lvl="1"/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Laptop</a:t>
            </a:r>
          </a:p>
          <a:p>
            <a:pPr lvl="1"/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Tablet</a:t>
            </a:r>
          </a:p>
          <a:p>
            <a:pPr lvl="1"/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Mobil</a:t>
            </a:r>
          </a:p>
        </p:txBody>
      </p:sp>
      <p:pic>
        <p:nvPicPr>
          <p:cNvPr id="4" name="Kép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7612" y="685800"/>
            <a:ext cx="2741953" cy="5510335"/>
          </a:xfrm>
          <a:prstGeom prst="rect">
            <a:avLst/>
          </a:prstGeom>
        </p:spPr>
      </p:pic>
      <p:pic>
        <p:nvPicPr>
          <p:cNvPr id="5" name="Kép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2899" y="2709111"/>
            <a:ext cx="2889689" cy="40689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27277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42" presetClass="entr" presetSubtype="0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200"/>
                            </p:stCondLst>
                            <p:childTnLst>
                              <p:par>
                                <p:cTn id="15" presetID="42" presetClass="entr" presetSubtype="0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900"/>
                            </p:stCondLst>
                            <p:childTnLst>
                              <p:par>
                                <p:cTn id="21" presetID="42" presetClass="entr" presetSubtype="0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600"/>
                            </p:stCondLst>
                            <p:childTnLst>
                              <p:par>
                                <p:cTn id="27" presetID="42" presetClass="entr" presetSubtype="0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300"/>
                            </p:stCondLst>
                            <p:childTnLst>
                              <p:par>
                                <p:cTn id="33" presetID="2" presetClass="entr" presetSubtype="4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2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829733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Tesztelés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Frontend tesztek környezete:</a:t>
            </a:r>
          </a:p>
          <a:p>
            <a:pPr lvl="1"/>
            <a:r>
              <a:rPr lang="hu-HU" i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Selenium</a:t>
            </a:r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hu-HU" i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Library</a:t>
            </a:r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- </a:t>
            </a:r>
            <a:r>
              <a:rPr lang="hu-HU" i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Robotframework</a:t>
            </a:r>
            <a:endParaRPr lang="hu-HU" i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Backend tesztek környezete:</a:t>
            </a:r>
          </a:p>
          <a:p>
            <a:pPr lvl="1"/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Postman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44A38960-D4BA-4B80-BA28-FDA596D77D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7071" y="685800"/>
            <a:ext cx="3639058" cy="4286848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29CCA974-8804-4EAA-8365-E27E5DD885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2038" y="4093198"/>
            <a:ext cx="2402162" cy="2079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448059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00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2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700"/>
                            </p:stCondLst>
                            <p:childTnLst>
                              <p:par>
                                <p:cTn id="2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200"/>
                            </p:stCondLst>
                            <p:childTnLst>
                              <p:par>
                                <p:cTn id="2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700"/>
                            </p:stCondLst>
                            <p:childTnLst>
                              <p:par>
                                <p:cTn id="33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838200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Fejlesztési lehetőségek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286000"/>
            <a:ext cx="8238067" cy="3581400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Szállító cégekkel való kapcsolat</a:t>
            </a: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Fizetési cégekkel való kapcsolat (online fizetés)</a:t>
            </a: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Mobil alkalmazás</a:t>
            </a: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Moderátorok</a:t>
            </a: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Felhasználók közötti üzenetváltás</a:t>
            </a: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Ruhadarabok kötés és horgolási mintatervezése</a:t>
            </a: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Blogposztokban termékek megjelölése</a:t>
            </a:r>
          </a:p>
          <a:p>
            <a:endParaRPr lang="hu-H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4053260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2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900"/>
                            </p:stCondLst>
                            <p:childTnLst>
                              <p:par>
                                <p:cTn id="21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600"/>
                            </p:stCondLst>
                            <p:childTnLst>
                              <p:par>
                                <p:cTn id="27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300"/>
                            </p:stCondLst>
                            <p:childTnLst>
                              <p:par>
                                <p:cTn id="33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4000"/>
                            </p:stCondLst>
                            <p:childTnLst>
                              <p:par>
                                <p:cTn id="39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4700"/>
                            </p:stCondLst>
                            <p:childTnLst>
                              <p:par>
                                <p:cTn id="45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0" y="2686050"/>
            <a:ext cx="9601200" cy="963083"/>
          </a:xfrm>
        </p:spPr>
        <p:txBody>
          <a:bodyPr>
            <a:normAutofit/>
          </a:bodyPr>
          <a:lstStyle/>
          <a:p>
            <a:pPr algn="ctr"/>
            <a:r>
              <a:rPr lang="hu-HU" sz="5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Köszönjük a figyelmet!</a:t>
            </a:r>
          </a:p>
        </p:txBody>
      </p:sp>
    </p:spTree>
    <p:extLst>
      <p:ext uri="{BB962C8B-B14F-4D97-AF65-F5344CB8AC3E}">
        <p14:creationId xmlns:p14="http://schemas.microsoft.com/office/powerpoint/2010/main" val="3944811295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>
            <a:extLst>
              <a:ext uri="{FF2B5EF4-FFF2-40B4-BE49-F238E27FC236}">
                <a16:creationId xmlns:a16="http://schemas.microsoft.com/office/drawing/2014/main" id="{A028852F-82BE-4AA8-A846-2ABD4E7A63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286000"/>
            <a:ext cx="9601200" cy="2057400"/>
          </a:xfrm>
        </p:spPr>
        <p:txBody>
          <a:bodyPr>
            <a:normAutofit/>
          </a:bodyPr>
          <a:lstStyle/>
          <a:p>
            <a:r>
              <a:rPr lang="hu-HU" sz="1800" dirty="0" err="1"/>
              <a:t>Vue</a:t>
            </a:r>
            <a:r>
              <a:rPr lang="hu-HU" sz="1800" dirty="0"/>
              <a:t> </a:t>
            </a:r>
            <a:r>
              <a:rPr lang="hu-HU" sz="1800" dirty="0" err="1"/>
              <a:t>logo</a:t>
            </a:r>
            <a:r>
              <a:rPr lang="hu-HU" sz="1800" dirty="0"/>
              <a:t>: </a:t>
            </a:r>
            <a:r>
              <a:rPr lang="hu-HU" sz="1800" dirty="0">
                <a:hlinkClick r:id="rId2"/>
              </a:rPr>
              <a:t>https://www.svgrepo.com/svg/452130/vue</a:t>
            </a:r>
            <a:endParaRPr lang="hu-HU" sz="1800" dirty="0"/>
          </a:p>
          <a:p>
            <a:r>
              <a:rPr lang="hu-HU" sz="1800" dirty="0"/>
              <a:t>Laravel </a:t>
            </a:r>
            <a:r>
              <a:rPr lang="hu-HU" sz="1800" dirty="0" err="1"/>
              <a:t>logo</a:t>
            </a:r>
            <a:r>
              <a:rPr lang="hu-HU" sz="1800" dirty="0"/>
              <a:t>: </a:t>
            </a:r>
            <a:r>
              <a:rPr lang="hu-HU" sz="1800" dirty="0">
                <a:hlinkClick r:id="rId3"/>
              </a:rPr>
              <a:t>https://www.logo.wine/logo/Laravel</a:t>
            </a:r>
            <a:endParaRPr lang="hu-HU" sz="1800" dirty="0"/>
          </a:p>
          <a:p>
            <a:pPr marL="0" indent="0">
              <a:buNone/>
            </a:pPr>
            <a:endParaRPr lang="hu-HU" sz="1800" dirty="0"/>
          </a:p>
          <a:p>
            <a:endParaRPr lang="hu-HU" sz="1800" dirty="0"/>
          </a:p>
        </p:txBody>
      </p:sp>
      <p:sp>
        <p:nvSpPr>
          <p:cNvPr id="6" name="Cím 1">
            <a:extLst>
              <a:ext uri="{FF2B5EF4-FFF2-40B4-BE49-F238E27FC236}">
                <a16:creationId xmlns:a16="http://schemas.microsoft.com/office/drawing/2014/main" id="{B89468A5-FD64-4D93-8DB9-8EE491183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838200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Források</a:t>
            </a:r>
          </a:p>
        </p:txBody>
      </p:sp>
    </p:spTree>
    <p:extLst>
      <p:ext uri="{BB962C8B-B14F-4D97-AF65-F5344CB8AC3E}">
        <p14:creationId xmlns:p14="http://schemas.microsoft.com/office/powerpoint/2010/main" val="352858520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theme/theme1.xml><?xml version="1.0" encoding="utf-8"?>
<a:theme xmlns:a="http://schemas.openxmlformats.org/drawingml/2006/main" name="Körülvágás">
  <a:themeElements>
    <a:clrScheme name="6. egyéni séma">
      <a:dk1>
        <a:srgbClr val="4C2600"/>
      </a:dk1>
      <a:lt1>
        <a:sysClr val="window" lastClr="FFFFFF"/>
      </a:lt1>
      <a:dk2>
        <a:srgbClr val="7F3200"/>
      </a:dk2>
      <a:lt2>
        <a:srgbClr val="EFEDE3"/>
      </a:lt2>
      <a:accent1>
        <a:srgbClr val="FF9933"/>
      </a:accent1>
      <a:accent2>
        <a:srgbClr val="FF6600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Körülvágás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Körülvágás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TM10001105[[fn=Körülvágás]]</Template>
  <TotalTime>5</TotalTime>
  <Words>261</Words>
  <Application>Microsoft Office PowerPoint</Application>
  <PresentationFormat>Szélesvásznú</PresentationFormat>
  <Paragraphs>84</Paragraphs>
  <Slides>13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13</vt:i4>
      </vt:variant>
    </vt:vector>
  </HeadingPairs>
  <TitlesOfParts>
    <vt:vector size="18" baseType="lpstr">
      <vt:lpstr>Arial</vt:lpstr>
      <vt:lpstr>Franklin Gothic Book</vt:lpstr>
      <vt:lpstr>Times New Roman</vt:lpstr>
      <vt:lpstr>Wingdings</vt:lpstr>
      <vt:lpstr>Körülvágás</vt:lpstr>
      <vt:lpstr>Kreatív hobbi- és barkács webáruház</vt:lpstr>
      <vt:lpstr>A projekt bemutatása</vt:lpstr>
      <vt:lpstr>Az oldalunk funkciói</vt:lpstr>
      <vt:lpstr>Program részei</vt:lpstr>
      <vt:lpstr>Munkamegosztás</vt:lpstr>
      <vt:lpstr>Backend</vt:lpstr>
      <vt:lpstr>Frontend</vt:lpstr>
      <vt:lpstr>Adatbázis</vt:lpstr>
      <vt:lpstr>Reszponzívitás</vt:lpstr>
      <vt:lpstr>Tesztelés</vt:lpstr>
      <vt:lpstr>Fejlesztési lehetőségek</vt:lpstr>
      <vt:lpstr>Köszönjük a figyelmet!</vt:lpstr>
      <vt:lpstr>Források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creator>Kovács Edit</dc:creator>
  <cp:lastModifiedBy>Tóthpál István</cp:lastModifiedBy>
  <cp:revision>55</cp:revision>
  <dcterms:created xsi:type="dcterms:W3CDTF">2026-02-27T07:48:09Z</dcterms:created>
  <dcterms:modified xsi:type="dcterms:W3CDTF">2026-04-13T21:22:05Z</dcterms:modified>
</cp:coreProperties>
</file>